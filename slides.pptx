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636008" y="1554480"/>
            <a:ext cx="2926080" cy="3200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36008" y="15544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SYLLABUS 3.6 — IGCSE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0152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6000" b="1" i="0">
                <a:solidFill>
                  <a:srgbClr val="1A2744"/>
                </a:solidFill>
                <a:latin typeface="Georgia"/>
              </a:rPr>
              <a:t>Firms'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200" b="0" i="0">
                <a:solidFill>
                  <a:srgbClr val="64748B"/>
                </a:solidFill>
                <a:latin typeface="Calibri"/>
              </a:rPr>
              <a:t>Grade 9 — VinSchool Grand Park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41448" y="3931920"/>
            <a:ext cx="73152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4069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BY THE END OF THIS LESSON YOU WILL BE 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443484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Define and distinguish Fixed Costs, Variable Costs, and Total Costs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Calculate TC, ATC, AFC, and AVC from data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Explain why ATC falls as output rises (spreading fixed costs)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D9488"/>
                </a:solidFill>
                <a:latin typeface="Calibri"/>
              </a:rPr>
              <a:t>■  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Interpret a cost table for a real business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 / 18  • 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4000" b="1" i="0">
                <a:solidFill>
                  <a:srgbClr val="1A2744"/>
                </a:solidFill>
                <a:latin typeface="Georgia"/>
              </a:rPr>
              <a:t>What are Costs?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4457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Every firm must spend money to produce goods or services — these are its </a:t>
            </a:r>
            <a:r>
              <a:rPr sz="1800" b="1" i="0">
                <a:solidFill>
                  <a:srgbClr val="1A2744"/>
                </a:solidFill>
                <a:latin typeface="Calibri"/>
              </a:rPr>
              <a:t>costs of production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There are </a:t>
            </a:r>
            <a:r>
              <a:rPr sz="1800" b="0" i="1">
                <a:solidFill>
                  <a:srgbClr val="D4A843"/>
                </a:solidFill>
                <a:latin typeface="Calibri"/>
              </a:rPr>
              <a:t>two main types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 of costs: </a:t>
            </a:r>
            <a:r>
              <a:rPr sz="1800" b="1" i="0">
                <a:solidFill>
                  <a:srgbClr val="0D9488"/>
                </a:solidFill>
                <a:latin typeface="Calibri"/>
              </a:rPr>
              <a:t>Fixed Costs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 and </a:t>
            </a:r>
            <a:r>
              <a:rPr sz="1800" b="1" i="0">
                <a:solidFill>
                  <a:srgbClr val="0D9488"/>
                </a:solidFill>
                <a:latin typeface="Calibri"/>
              </a:rPr>
              <a:t>Variable Costs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Together they form </a:t>
            </a:r>
            <a:r>
              <a:rPr sz="1800" b="1" i="0">
                <a:solidFill>
                  <a:srgbClr val="0D9488"/>
                </a:solidFill>
                <a:latin typeface="Calibri"/>
              </a:rPr>
              <a:t>Total Costs</a:t>
            </a:r>
            <a:r>
              <a:rPr sz="1800" b="0" i="0">
                <a:solidFill>
                  <a:srgbClr val="1A2744"/>
                </a:solidFill>
                <a:latin typeface="Calibri"/>
              </a:rPr>
              <a:t> — everything the firm spends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3108960" cy="1463040"/>
          </a:xfrm>
          <a:prstGeom prst="roundRect">
            <a:avLst/>
          </a:prstGeom>
          <a:solidFill>
            <a:srgbClr val="E0F5F3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000" b="1" i="0">
                <a:solidFill>
                  <a:srgbClr val="1A2744"/>
                </a:solidFill>
                <a:latin typeface="Georgia"/>
              </a:rPr>
              <a:t>Fixed Costs (FC)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400" b="0" i="0">
                <a:solidFill>
                  <a:srgbClr val="0F766E"/>
                </a:solidFill>
                <a:latin typeface="Calibri"/>
              </a:rPr>
              <a:t>Do NOT change with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4023360"/>
            <a:ext cx="36576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3200" b="0" i="0">
                <a:solidFill>
                  <a:srgbClr val="1A2744"/>
                </a:solidFill>
                <a:latin typeface="Calibri"/>
              </a:rPr>
              <a:t>+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4023360"/>
            <a:ext cx="3108960" cy="14630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4206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000" b="1" i="0">
                <a:solidFill>
                  <a:srgbClr val="1A2744"/>
                </a:solidFill>
                <a:latin typeface="Georgia"/>
              </a:rPr>
              <a:t>Variable Costs (VC)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754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400" b="0" i="0">
                <a:solidFill>
                  <a:srgbClr val="92400E"/>
                </a:solidFill>
                <a:latin typeface="Calibri"/>
              </a:rPr>
              <a:t>Change WITH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023360"/>
            <a:ext cx="365760" cy="1463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3200" b="0" i="0">
                <a:solidFill>
                  <a:srgbClr val="1A2744"/>
                </a:solidFill>
                <a:latin typeface="Calibri"/>
              </a:rPr>
              <a:t>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4023360"/>
            <a:ext cx="3108960" cy="1463040"/>
          </a:xfrm>
          <a:prstGeom prst="roundRect">
            <a:avLst/>
          </a:prstGeom>
          <a:solidFill>
            <a:srgbClr val="1A2744"/>
          </a:solidFill>
          <a:ln w="25400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20624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Total Costs (TC)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548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400" b="0" i="0">
                <a:solidFill>
                  <a:srgbClr val="CBD5E1"/>
                </a:solidFill>
                <a:latin typeface="Calibri"/>
              </a:rPr>
              <a:t>TFC + TVC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2 / 18  •  What are Costs?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600" b="1" i="0">
                <a:solidFill>
                  <a:srgbClr val="1A2744"/>
                </a:solidFill>
                <a:latin typeface="Georgia"/>
              </a:rPr>
              <a:t>Fixed Costs (FC)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0" i="0">
                <a:solidFill>
                  <a:srgbClr val="1A2744"/>
                </a:solidFill>
                <a:latin typeface="Calibri"/>
              </a:rPr>
              <a:t>Costs that do </a:t>
            </a:r>
            <a:r>
              <a:rPr sz="1700" b="1" i="0">
                <a:solidFill>
                  <a:srgbClr val="1A2744"/>
                </a:solidFill>
                <a:latin typeface="Calibri"/>
              </a:rPr>
              <a:t>NOT</a:t>
            </a:r>
            <a:r>
              <a:rPr sz="1700" b="0" i="0">
                <a:solidFill>
                  <a:srgbClr val="1A2744"/>
                </a:solidFill>
                <a:latin typeface="Calibri"/>
              </a:rPr>
              <a:t> change with the level of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Must be paid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even if the firm produces nothing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They exist whether output is 0 or 10,000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40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EXAMPLES: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06240"/>
            <a:ext cx="713232" cy="320040"/>
          </a:xfrm>
          <a:prstGeom prst="roundRect">
            <a:avLst/>
          </a:prstGeom>
          <a:solidFill>
            <a:srgbClr val="E0F5F3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713232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1872" y="4206240"/>
            <a:ext cx="1261872" cy="320040"/>
          </a:xfrm>
          <a:prstGeom prst="roundRect">
            <a:avLst/>
          </a:prstGeom>
          <a:solidFill>
            <a:srgbClr val="E0F5F3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420624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Insurance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15184" y="4206240"/>
            <a:ext cx="2029967" cy="320040"/>
          </a:xfrm>
          <a:prstGeom prst="roundRect">
            <a:avLst/>
          </a:prstGeom>
          <a:solidFill>
            <a:srgbClr val="E0F5F3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15184" y="4206240"/>
            <a:ext cx="2029967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Manager salaries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6591" y="4206240"/>
            <a:ext cx="2139696" cy="320040"/>
          </a:xfrm>
          <a:prstGeom prst="roundRect">
            <a:avLst/>
          </a:prstGeom>
          <a:solidFill>
            <a:srgbClr val="E0F5F3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36591" y="4206240"/>
            <a:ext cx="2139696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Machinery leasing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810512" cy="320040"/>
          </a:xfrm>
          <a:prstGeom prst="roundRect">
            <a:avLst/>
          </a:prstGeom>
          <a:solidFill>
            <a:srgbClr val="E0F5F3"/>
          </a:solidFill>
          <a:ln w="95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1810512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Business rates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5760"/>
            <a:ext cx="5394960" cy="1828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572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92400E"/>
                </a:solidFill>
                <a:latin typeface="Calibri"/>
              </a:rPr>
              <a:t>COMMON MISTAKE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7772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0" i="0">
                <a:solidFill>
                  <a:srgbClr val="78350F"/>
                </a:solidFill>
                <a:latin typeface="Calibri"/>
              </a:rPr>
              <a:t>Fixed costs are </a:t>
            </a:r>
            <a:r>
              <a:rPr sz="1300" b="1" i="0">
                <a:solidFill>
                  <a:srgbClr val="78350F"/>
                </a:solidFill>
                <a:latin typeface="Calibri"/>
              </a:rPr>
              <a:t>NOT</a:t>
            </a:r>
            <a:r>
              <a:rPr sz="1300" b="0" i="0">
                <a:solidFill>
                  <a:srgbClr val="78350F"/>
                </a:solidFill>
                <a:latin typeface="Calibri"/>
              </a:rPr>
              <a:t> costs that never change. Rent CAN increase — but it doesn't increase </a:t>
            </a:r>
            <a:r>
              <a:rPr sz="1300" b="0" i="1">
                <a:solidFill>
                  <a:srgbClr val="78350F"/>
                </a:solidFill>
                <a:latin typeface="Calibri"/>
              </a:rPr>
              <a:t>because you produced more.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13716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0" i="0">
                <a:solidFill>
                  <a:srgbClr val="78350F"/>
                </a:solidFill>
                <a:latin typeface="Calibri"/>
              </a:rPr>
              <a:t>Fixed costs don't change with </a:t>
            </a:r>
            <a:r>
              <a:rPr sz="1300" b="1" i="0">
                <a:solidFill>
                  <a:srgbClr val="78350F"/>
                </a:solidFill>
                <a:latin typeface="Calibri"/>
              </a:rPr>
              <a:t>OUTPUT</a:t>
            </a:r>
            <a:r>
              <a:rPr sz="1300" b="0" i="0">
                <a:solidFill>
                  <a:srgbClr val="78350F"/>
                </a:solidFill>
                <a:latin typeface="Calibri"/>
              </a:rPr>
              <a:t> — that's the key idea.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3774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4688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Think of it this way: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78892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0" i="0">
                <a:solidFill>
                  <a:srgbClr val="1A2744"/>
                </a:solidFill>
                <a:latin typeface="Calibri"/>
              </a:rPr>
              <a:t>A Vietnamese restaurant pays </a:t>
            </a:r>
            <a:r>
              <a:rPr sz="1400" b="1" i="0">
                <a:solidFill>
                  <a:srgbClr val="1A2744"/>
                </a:solidFill>
                <a:latin typeface="Calibri"/>
              </a:rPr>
              <a:t>$3,000/month rent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. Whether they serve 10 customers or 500 customers that month — the rent bill is still </a:t>
            </a:r>
            <a:r>
              <a:rPr sz="1400" b="1" i="0">
                <a:solidFill>
                  <a:srgbClr val="1A2744"/>
                </a:solidFill>
                <a:latin typeface="Calibri"/>
              </a:rPr>
              <a:t>$3,000</a:t>
            </a:r>
            <a:r>
              <a:rPr sz="1400" b="0" i="0">
                <a:solidFill>
                  <a:srgbClr val="1A2744"/>
                </a:solidFill>
                <a:latin typeface="Calibri"/>
              </a:rPr>
              <a:t>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3 / 18  •  Fixed Costs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600" b="1" i="0">
                <a:solidFill>
                  <a:srgbClr val="1A2744"/>
                </a:solidFill>
                <a:latin typeface="Georgia"/>
              </a:rPr>
              <a:t>Fixed Costs — The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280160"/>
            <a:ext cx="853135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017520" y="2011680"/>
            <a:ext cx="0" cy="320040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17520" y="5212080"/>
            <a:ext cx="6400800" cy="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32461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Costs ($)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5303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Output (units)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17520" y="3383280"/>
            <a:ext cx="6126480" cy="0"/>
          </a:xfrm>
          <a:prstGeom prst="line">
            <a:avLst/>
          </a:prstGeom>
          <a:ln w="444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0" y="3200400"/>
            <a:ext cx="1371600" cy="36576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3200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TFC = $100k</a:t>
            </a:r>
          </a:p>
        </p:txBody>
      </p:sp>
      <p:sp>
        <p:nvSpPr>
          <p:cNvPr id="12" name="Oval 11"/>
          <p:cNvSpPr/>
          <p:nvPr/>
        </p:nvSpPr>
        <p:spPr>
          <a:xfrm>
            <a:off x="2944368" y="3310128"/>
            <a:ext cx="146304" cy="14630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70848" y="3310128"/>
            <a:ext cx="146304" cy="146304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4389120"/>
            <a:ext cx="3657600" cy="457200"/>
          </a:xfrm>
          <a:prstGeom prst="roundRect">
            <a:avLst/>
          </a:prstGeom>
          <a:solidFill>
            <a:srgbClr val="E0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3891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300" b="1" i="0">
                <a:solidFill>
                  <a:srgbClr val="065F46"/>
                </a:solidFill>
                <a:latin typeface="Calibri"/>
              </a:rPr>
              <a:t>Output changes — TFC stays perfectly flat!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4 / 18  •  Fixed Costs Diagram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600" b="1" i="0">
                <a:solidFill>
                  <a:srgbClr val="1A2744"/>
                </a:solidFill>
                <a:latin typeface="Georgia"/>
              </a:rPr>
              <a:t>Variable Costs (VC)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DEFINITION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0" i="0">
                <a:solidFill>
                  <a:srgbClr val="1A2744"/>
                </a:solidFill>
                <a:latin typeface="Calibri"/>
              </a:rPr>
              <a:t>Costs that </a:t>
            </a:r>
            <a:r>
              <a:rPr sz="1700" b="1" i="0">
                <a:solidFill>
                  <a:srgbClr val="1A2744"/>
                </a:solidFill>
                <a:latin typeface="Calibri"/>
              </a:rPr>
              <a:t>change directly</a:t>
            </a:r>
            <a:r>
              <a:rPr sz="1700" b="0" i="0">
                <a:solidFill>
                  <a:srgbClr val="1A2744"/>
                </a:solidFill>
                <a:latin typeface="Calibri"/>
              </a:rPr>
              <a:t> with the level of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603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The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more you produce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, the higher your variable costs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VC = </a:t>
            </a:r>
            <a:r>
              <a:rPr sz="1500" b="0" i="1">
                <a:solidFill>
                  <a:srgbClr val="D4A843"/>
                </a:solidFill>
                <a:latin typeface="Calibri"/>
              </a:rPr>
              <a:t>$0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when output = 0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Key difference from FC: variable costs only exist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when producing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5720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D4A843"/>
                </a:solidFill>
                <a:latin typeface="Calibri"/>
              </a:rPr>
              <a:t>EXAMPLES: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822960"/>
            <a:ext cx="1700784" cy="3200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822960"/>
            <a:ext cx="1700784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Raw materials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822960"/>
            <a:ext cx="1591056" cy="3200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1584" y="822960"/>
            <a:ext cx="1591056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Worker wages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822960"/>
            <a:ext cx="1481328" cy="3200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822960"/>
            <a:ext cx="1481328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Electricity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280160"/>
            <a:ext cx="1261872" cy="3200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1261872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Packaging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62672" y="1280160"/>
            <a:ext cx="1700784" cy="320040"/>
          </a:xfrm>
          <a:prstGeom prst="roundRect">
            <a:avLst/>
          </a:prstGeom>
          <a:solidFill>
            <a:srgbClr val="FEF3C7"/>
          </a:solidFill>
          <a:ln w="9525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1280160"/>
            <a:ext cx="1700784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Delivery fuel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539496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19202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Think of it this way: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0" i="0">
                <a:solidFill>
                  <a:srgbClr val="1A2744"/>
                </a:solidFill>
                <a:latin typeface="Calibri"/>
              </a:rPr>
              <a:t>A banh mi shop uses </a:t>
            </a:r>
            <a:r>
              <a:rPr sz="1300" b="1" i="0">
                <a:solidFill>
                  <a:srgbClr val="1A2744"/>
                </a:solidFill>
                <a:latin typeface="Calibri"/>
              </a:rPr>
              <a:t>flour, meat, and vegetables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 in every roll. Make 100 rolls → buy 100 sets of ingredients. Make 0 rolls → buy nothing.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657600"/>
            <a:ext cx="5394960" cy="118872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39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zero output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: VC = $0
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As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output rises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: VC rises with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5 / 18  •  Variable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600" b="1" i="0">
                <a:solidFill>
                  <a:srgbClr val="1A2744"/>
                </a:solidFill>
                <a:latin typeface="Georgia"/>
              </a:rPr>
              <a:t>Variable Costs — The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280160"/>
            <a:ext cx="8531352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3017520" y="2011680"/>
            <a:ext cx="0" cy="320040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017520" y="5212080"/>
            <a:ext cx="6400800" cy="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920240" y="32461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Costs ($)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53035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1" i="0">
                <a:solidFill>
                  <a:srgbClr val="1A2744"/>
                </a:solidFill>
                <a:latin typeface="Calibri"/>
              </a:rPr>
              <a:t>Output (units)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3017520" y="4846320"/>
            <a:ext cx="1371600" cy="365760"/>
          </a:xfrm>
          <a:prstGeom prst="line">
            <a:avLst/>
          </a:prstGeom>
          <a:ln w="4445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4389120" y="4206240"/>
            <a:ext cx="1371600" cy="640080"/>
          </a:xfrm>
          <a:prstGeom prst="line">
            <a:avLst/>
          </a:prstGeom>
          <a:ln w="4445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5760720" y="3383280"/>
            <a:ext cx="1371600" cy="822960"/>
          </a:xfrm>
          <a:prstGeom prst="line">
            <a:avLst/>
          </a:prstGeom>
          <a:ln w="4445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132320" y="2560320"/>
            <a:ext cx="1371600" cy="822960"/>
          </a:xfrm>
          <a:prstGeom prst="line">
            <a:avLst/>
          </a:prstGeom>
          <a:ln w="4445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38160" y="2194560"/>
            <a:ext cx="914400" cy="36576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19456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TVC</a:t>
            </a:r>
          </a:p>
        </p:txBody>
      </p:sp>
      <p:sp>
        <p:nvSpPr>
          <p:cNvPr id="15" name="Oval 14"/>
          <p:cNvSpPr/>
          <p:nvPr/>
        </p:nvSpPr>
        <p:spPr>
          <a:xfrm>
            <a:off x="2926080" y="5120640"/>
            <a:ext cx="182880" cy="182880"/>
          </a:xfrm>
          <a:prstGeom prst="ellipse">
            <a:avLst/>
          </a:prstGeom>
          <a:solidFill>
            <a:srgbClr val="D4A843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474720" y="4297680"/>
            <a:ext cx="25603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297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78350F"/>
                </a:solidFill>
                <a:latin typeface="Calibri"/>
              </a:rPr>
              <a:t>Starts at $0 (origin)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2926080"/>
            <a:ext cx="2560320" cy="457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9260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78350F"/>
                </a:solidFill>
                <a:latin typeface="Calibri"/>
              </a:rPr>
              <a:t>Rises as output increases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6 / 18  •  Variable Costs Diagram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600" b="1" i="0">
                <a:solidFill>
                  <a:srgbClr val="1A2744"/>
                </a:solidFill>
                <a:latin typeface="Georgia"/>
              </a:rPr>
              <a:t>Total Costs (TC)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3048" y="1188720"/>
            <a:ext cx="4572000" cy="109728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13048" y="128016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Georgia"/>
              </a:rPr>
              <a:t>TC = TFC + TVC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3048" y="1874519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9CA3AF"/>
                </a:solidFill>
                <a:latin typeface="Calibri"/>
              </a:rPr>
              <a:t>Total Costs = Total Fixed Costs + Total Variable Costs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Total cost is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everything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the firm spends to produce its output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At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zero output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: TC = FC (because VC = $0 when nothing is produced)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As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output rises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: TC rises because VC rises — FC stays the same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TC curve is </a:t>
            </a:r>
            <a:r>
              <a:rPr sz="1500" b="0" i="1">
                <a:solidFill>
                  <a:srgbClr val="D4A843"/>
                </a:solidFill>
                <a:latin typeface="Calibri"/>
              </a:rPr>
              <a:t>parallel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to TVC — shifted upward by the amount of TFC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57200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WHEN Q =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600" b="1" i="0">
                <a:solidFill>
                  <a:srgbClr val="1A2744"/>
                </a:solidFill>
                <a:latin typeface="Calibri"/>
              </a:rPr>
              <a:t>TC = TFC + $0 = TFC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572000"/>
            <a:ext cx="347472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4663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00" b="1" i="0">
                <a:solidFill>
                  <a:srgbClr val="D4A843"/>
                </a:solidFill>
                <a:latin typeface="Calibri"/>
              </a:rPr>
              <a:t>AS Q RISES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5029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600" b="1" i="0">
                <a:solidFill>
                  <a:srgbClr val="1A2744"/>
                </a:solidFill>
                <a:latin typeface="Calibri"/>
              </a:rPr>
              <a:t>TC rises (TVC rises)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83296" y="4572000"/>
            <a:ext cx="3474720" cy="1097280"/>
          </a:xfrm>
          <a:prstGeom prst="roundRect">
            <a:avLst/>
          </a:prstGeom>
          <a:solidFill>
            <a:srgbClr val="1A2744"/>
          </a:solidFill>
          <a:ln w="12700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4663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00" b="1" i="0">
                <a:solidFill>
                  <a:srgbClr val="D4A843"/>
                </a:solidFill>
                <a:latin typeface="Calibri"/>
              </a:rPr>
              <a:t>TC CURVE STARTS 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296" y="50292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TFC intercept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7 / 18  •  Total Costs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Georgia"/>
              </a:rPr>
              <a:t>Total Costs — All Three Lines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0360152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2011680" y="1463040"/>
            <a:ext cx="0" cy="292608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011680" y="4389120"/>
            <a:ext cx="8229600" cy="0"/>
          </a:xfrm>
          <a:prstGeom prst="line">
            <a:avLst/>
          </a:prstGeom>
          <a:ln w="254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26517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200" b="1" i="0">
                <a:solidFill>
                  <a:srgbClr val="1A2744"/>
                </a:solidFill>
                <a:latin typeface="Calibri"/>
              </a:rPr>
              <a:t>Costs ($)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4434840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200" b="1" i="0">
                <a:solidFill>
                  <a:srgbClr val="1A2744"/>
                </a:solidFill>
                <a:latin typeface="Calibri"/>
              </a:rPr>
              <a:t>Output (Q)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3108960"/>
            <a:ext cx="7498080" cy="0"/>
          </a:xfrm>
          <a:prstGeom prst="line">
            <a:avLst/>
          </a:prstGeom>
          <a:ln w="381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0" y="2926080"/>
            <a:ext cx="731520" cy="3200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9260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TFC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011680" y="4114800"/>
            <a:ext cx="1828800" cy="27432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840480" y="3566160"/>
            <a:ext cx="1828800" cy="54864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5669280" y="2743200"/>
            <a:ext cx="1828800" cy="82296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498080" y="1920240"/>
            <a:ext cx="1828800" cy="822960"/>
          </a:xfrm>
          <a:prstGeom prst="line">
            <a:avLst/>
          </a:prstGeom>
          <a:ln w="38100">
            <a:solidFill>
              <a:srgbClr val="D4A8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69680" y="1554480"/>
            <a:ext cx="731520" cy="32004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554480"/>
            <a:ext cx="73152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TVC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2011680" y="2880360"/>
            <a:ext cx="1828800" cy="228600"/>
          </a:xfrm>
          <a:prstGeom prst="line">
            <a:avLst/>
          </a:prstGeom>
          <a:ln w="381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40480" y="2377440"/>
            <a:ext cx="1828800" cy="502920"/>
          </a:xfrm>
          <a:prstGeom prst="line">
            <a:avLst/>
          </a:prstGeom>
          <a:ln w="381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69280" y="1645920"/>
            <a:ext cx="1828800" cy="731520"/>
          </a:xfrm>
          <a:prstGeom prst="line">
            <a:avLst/>
          </a:prstGeom>
          <a:ln w="381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498080" y="1005840"/>
            <a:ext cx="1828800" cy="640080"/>
          </a:xfrm>
          <a:prstGeom prst="line">
            <a:avLst/>
          </a:prstGeom>
          <a:ln w="3810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412480" y="777240"/>
            <a:ext cx="1371600" cy="32004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7772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TC = TFC + TVC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120640"/>
            <a:ext cx="5120640" cy="1371600"/>
          </a:xfrm>
          <a:prstGeom prst="roundRect">
            <a:avLst/>
          </a:prstGeom>
          <a:solidFill>
            <a:srgbClr val="E0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212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Why does TC start at TFC?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When a firm produces zero output, it still has to pay fixed costs. VC = $0 because nothing is being made. So TC = TFC + $0 = </a:t>
            </a:r>
            <a:r>
              <a:rPr sz="1100" b="1" i="0">
                <a:solidFill>
                  <a:srgbClr val="1A2744"/>
                </a:solidFill>
                <a:latin typeface="Calibri"/>
              </a:rPr>
              <a:t>TFC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5120640"/>
            <a:ext cx="5120640" cy="13716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52120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300" b="1" i="0">
                <a:solidFill>
                  <a:srgbClr val="1A2744"/>
                </a:solidFill>
                <a:latin typeface="Calibri"/>
              </a:rPr>
              <a:t>What does the gap between TC and TFC mean?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3992" y="55778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The vertical distance between TC and TFC at any output level equals the </a:t>
            </a:r>
            <a:r>
              <a:rPr sz="1100" b="1" i="0">
                <a:solidFill>
                  <a:srgbClr val="1A2744"/>
                </a:solidFill>
                <a:latin typeface="Calibri"/>
              </a:rPr>
              <a:t>total variable cost (TVC)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. Since TC = TFC + TVC, the gap is always TVC.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8 / 18  •  Total Costs Diagram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Georgia"/>
              </a:rPr>
              <a:t>Quick Check: Fixed or Variable?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Classify each of these costs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005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63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Flour for a bakery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1005840" cy="27432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965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More bread produced = more flour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371600"/>
            <a:ext cx="5303520" cy="1005840"/>
          </a:xfrm>
          <a:prstGeom prst="roundRect">
            <a:avLst/>
          </a:prstGeom>
          <a:solidFill>
            <a:srgbClr val="F0FDFB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630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Manager's salary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965960"/>
            <a:ext cx="100584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6596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9659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Paid the same whether firm produces 10 or 10,000 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60320"/>
            <a:ext cx="5303520" cy="1005840"/>
          </a:xfrm>
          <a:prstGeom prst="roundRect">
            <a:avLst/>
          </a:prstGeom>
          <a:solidFill>
            <a:srgbClr val="F0FDFB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6517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Insurance on the building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154680"/>
            <a:ext cx="100584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154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Fixed annual cost, unrelated to 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560320"/>
            <a:ext cx="5303520" cy="1005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26517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Packaging materials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154680"/>
            <a:ext cx="1005840" cy="27432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80760" y="31546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1546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Each unit needs packaging — rises with output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749040"/>
            <a:ext cx="5303520" cy="1005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840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Delivery driver wages per delivery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343400"/>
            <a:ext cx="1005840" cy="27432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3434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343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More deliveries = more pay — rises with output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3749040"/>
            <a:ext cx="5303520" cy="1005840"/>
          </a:xfrm>
          <a:prstGeom prst="roundRect">
            <a:avLst/>
          </a:prstGeom>
          <a:solidFill>
            <a:srgbClr val="F0FDFB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80760" y="38404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Monthly WiFi subscription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80760" y="4343400"/>
            <a:ext cx="100584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0760" y="434340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43434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Flat monthly fee regardless of output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937760"/>
            <a:ext cx="5303520" cy="1005840"/>
          </a:xfrm>
          <a:prstGeom prst="roundRect">
            <a:avLst/>
          </a:prstGeom>
          <a:solidFill>
            <a:srgbClr val="F0FDFB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029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Rent for a factory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532120"/>
            <a:ext cx="1005840" cy="27432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5321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FIXED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91640" y="5532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Same each month regardless of production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4937760"/>
            <a:ext cx="5303520" cy="1005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80760" y="50292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Electricity for production machines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080760" y="5532120"/>
            <a:ext cx="1005840" cy="274320"/>
          </a:xfrm>
          <a:prstGeom prst="roundRect">
            <a:avLst/>
          </a:prstGeom>
          <a:solidFill>
            <a:srgbClr val="D4A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80760" y="553212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VARIABLE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55321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More production = more electricity used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9 / 18  •  Quick Check: Fixed or Variable?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200" b="1" i="0">
                <a:solidFill>
                  <a:srgbClr val="1A2744"/>
                </a:solidFill>
                <a:latin typeface="Georgia"/>
              </a:rPr>
              <a:t>Average Total Cost (ATC)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00584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ATC = TC ÷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Cost per unit of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5486400" cy="914400"/>
          </a:xfrm>
          <a:prstGeom prst="roundRect">
            <a:avLst/>
          </a:prstGeom>
          <a:solidFill>
            <a:srgbClr val="E0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5029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200" b="1" i="0">
                <a:solidFill>
                  <a:srgbClr val="1A2744"/>
                </a:solidFill>
                <a:latin typeface="Georgia"/>
              </a:rPr>
              <a:t>ATC = AFC + AVC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0F766E"/>
                </a:solidFill>
                <a:latin typeface="Calibri"/>
              </a:rPr>
              <a:t>Average Fixed Cost + Average Variable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Tells us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how much each unit costs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to make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657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WHY DOES ATC FALL THEN RISE?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868680"/>
            <a:ext cx="5394960" cy="1280160"/>
          </a:xfrm>
          <a:prstGeom prst="roundRect">
            <a:avLst/>
          </a:prstGeom>
          <a:solidFill>
            <a:srgbClr val="E0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9601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At low output: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065F46"/>
                </a:solidFill>
                <a:latin typeface="Calibri"/>
              </a:rPr>
              <a:t>ATC is high — fixed costs are spread over very few units. Each unit carries a big chunk of FC.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5394960" cy="128016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As output rises: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9748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ATC falls — fixed costs are spread over more units. This is </a:t>
            </a:r>
            <a:r>
              <a:rPr sz="1200" b="1" i="0">
                <a:solidFill>
                  <a:srgbClr val="78350F"/>
                </a:solidFill>
                <a:latin typeface="Calibri"/>
              </a:rPr>
              <a:t>economies of scale</a:t>
            </a:r>
            <a:r>
              <a:rPr sz="1200" b="0" i="0">
                <a:solidFill>
                  <a:srgbClr val="78350F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03320"/>
            <a:ext cx="539496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947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At very high output: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114800"/>
            <a:ext cx="502920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1A2744"/>
                </a:solidFill>
                <a:latin typeface="Calibri"/>
              </a:rPr>
              <a:t>ATC may rise — firm becomes too big, inefficient. Diseconomies of scale.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10 / 18  •  Average Total Cost (ATC)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200" b="1" i="0">
                <a:solidFill>
                  <a:srgbClr val="1A2744"/>
                </a:solidFill>
                <a:latin typeface="Georgia"/>
              </a:rPr>
              <a:t>Average Fixed Cost (AFC)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00584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AFC = TFC ÷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Fixed cost per unit of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AFC </a:t>
            </a:r>
            <a:r>
              <a:rPr sz="1500" b="0" i="1">
                <a:solidFill>
                  <a:srgbClr val="D4A843"/>
                </a:solidFill>
                <a:latin typeface="Calibri"/>
              </a:rPr>
              <a:t>ALWAYS falls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as output increases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Same fixed cost is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spread over more units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0D9488"/>
                </a:solidFill>
                <a:latin typeface="Calibri"/>
              </a:rPr>
              <a:t>■  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This is the core logic behind </a:t>
            </a:r>
            <a:r>
              <a:rPr sz="1500" b="1" i="0">
                <a:solidFill>
                  <a:srgbClr val="0D9488"/>
                </a:solidFill>
                <a:latin typeface="Calibri"/>
              </a:rPr>
              <a:t>economies of scale</a:t>
            </a:r>
            <a:r>
              <a:rPr sz="1500" b="0" i="0">
                <a:solidFill>
                  <a:srgbClr val="1A2744"/>
                </a:solidFill>
                <a:latin typeface="Calibri"/>
              </a:rPr>
              <a:t> (from 3.4)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657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WORKED EXAMPLE — TFC = $200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822960"/>
            <a:ext cx="1801368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8229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Output (Q)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10728" y="822960"/>
            <a:ext cx="1801368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8229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TFC ($)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12096" y="822960"/>
            <a:ext cx="1801368" cy="457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12096" y="8229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AFC = TFC ÷ 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2801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801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0728" y="12801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12801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12096" y="12801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2096" y="12801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4.00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373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7373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100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10728" y="17373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7373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912096" y="17373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12096" y="17373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2.00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21945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1945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0728" y="21945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0728" y="21945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12096" y="2194560"/>
            <a:ext cx="180136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21945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1.00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26517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6517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400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10728" y="26517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0728" y="26517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12096" y="2651760"/>
            <a:ext cx="1801368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12096" y="2651760"/>
            <a:ext cx="1801368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Calibri"/>
              </a:rPr>
              <a:t>0.50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09360" y="3931920"/>
            <a:ext cx="5394960" cy="137160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4023360"/>
            <a:ext cx="5029200" cy="11887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AFC fell from </a:t>
            </a:r>
            <a:r>
              <a:rPr sz="1200" b="1" i="0">
                <a:solidFill>
                  <a:srgbClr val="D4A843"/>
                </a:solidFill>
                <a:latin typeface="Calibri"/>
              </a:rPr>
              <a:t>$4.00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 to </a:t>
            </a:r>
            <a:r>
              <a:rPr sz="1200" b="1" i="0">
                <a:solidFill>
                  <a:srgbClr val="D4A843"/>
                </a:solidFill>
                <a:latin typeface="Calibri"/>
              </a:rPr>
              <a:t>$0.50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 — the fixed cost is "spread" over 8× more units. This is why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producing more reduces cost per unit.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11 / 18  •  Average Fixed Cost (AFC)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000" b="1" i="0">
                <a:solidFill>
                  <a:srgbClr val="1A2744"/>
                </a:solidFill>
                <a:latin typeface="Georgia"/>
              </a:rPr>
              <a:t>Calculation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Banh Mi Shop — complete the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
(banh mi/day)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8256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48256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TFC ($)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39312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TVC ($)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30368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TC ($)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21424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ATC ($)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AFC ($)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03536" y="1280160"/>
            <a:ext cx="1591056" cy="64008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3536" y="1280160"/>
            <a:ext cx="1591056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AVC ($)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48256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48256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39312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0368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0368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21424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03536" y="19202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3536" y="19202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48256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48256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39312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39312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150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30368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230368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350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21424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1424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7.00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12480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4.00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23774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03536" y="23774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3.00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100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048256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048256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39312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39312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30368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30368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480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21424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21424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4.80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12480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12480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2.00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0003536" y="28346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03536" y="28346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2.80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48256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48256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39312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39312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500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230368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230368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700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21424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21424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3.50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0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12480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1.00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03536" y="3291840"/>
            <a:ext cx="1591056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003536" y="32918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2.50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400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48256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048256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200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39312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39312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1200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230368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30368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1400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21424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21424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3.50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12480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0.50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03536" y="3749040"/>
            <a:ext cx="1591056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003536" y="3749040"/>
            <a:ext cx="1591056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0" i="0">
                <a:solidFill>
                  <a:srgbClr val="1A2744"/>
                </a:solidFill>
                <a:latin typeface="Calibri"/>
              </a:rPr>
              <a:t>3.00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457200" y="4389120"/>
            <a:ext cx="11274552" cy="822960"/>
          </a:xfrm>
          <a:prstGeom prst="roundRect">
            <a:avLst/>
          </a:prstGeom>
          <a:solidFill>
            <a:srgbClr val="FAF8F4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FORMULA REMINDER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Step 1: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TC = TFC + TVC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    Step 2: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ATC = TC ÷ Q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    Step 3: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AFC = TFC ÷ Q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    Step 4: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AVC = TVC ÷ Q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457200" y="5394960"/>
            <a:ext cx="11274552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40080" y="544068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Notice the pattern: </a:t>
            </a:r>
            <a:r>
              <a:rPr sz="1100" b="0" i="0">
                <a:solidFill>
                  <a:srgbClr val="78350F"/>
                </a:solidFill>
                <a:latin typeface="Calibri"/>
              </a:rPr>
              <a:t>AFC fell from $4.00 → $0.50 as fixed costs spread. AVC fell then rose. ATC fell from $7.00 → $3.50 — beginning of the U-shaped ATC curve!</a:t>
            </a:r>
          </a:p>
        </p:txBody>
      </p:sp>
      <p:sp>
        <p:nvSpPr>
          <p:cNvPr id="94" name="Rectangle 9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12 / 18  •  Calculation Challenge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3000" b="1" i="0">
                <a:solidFill>
                  <a:srgbClr val="1A2744"/>
                </a:solidFill>
                <a:latin typeface="Georgia"/>
              </a:rPr>
              <a:t>Average Variable Cost (AVC)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100584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Georgia"/>
              </a:rPr>
              <a:t>AVC = TVC ÷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  <a:latin typeface="Calibri"/>
              </a:rPr>
              <a:t>Variable cost per unit of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AVC measures how much variable cost each unit adds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At low output: AVC may be </a:t>
            </a:r>
            <a:r>
              <a:rPr sz="1300" b="1" i="0">
                <a:solidFill>
                  <a:srgbClr val="0D9488"/>
                </a:solidFill>
                <a:latin typeface="Calibri"/>
              </a:rPr>
              <a:t>high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 (small-scale inefficiency)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As output grows: AVC may </a:t>
            </a:r>
            <a:r>
              <a:rPr sz="1300" b="0" i="1">
                <a:solidFill>
                  <a:srgbClr val="D4A843"/>
                </a:solidFill>
                <a:latin typeface="Calibri"/>
              </a:rPr>
              <a:t>fall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 (specialisation gains)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0D9488"/>
                </a:solidFill>
                <a:latin typeface="Calibri"/>
              </a:rPr>
              <a:t>■  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At very high output: AVC may </a:t>
            </a:r>
            <a:r>
              <a:rPr sz="1300" b="1" i="0">
                <a:solidFill>
                  <a:srgbClr val="0D9488"/>
                </a:solidFill>
                <a:latin typeface="Calibri"/>
              </a:rPr>
              <a:t>rise again</a:t>
            </a:r>
            <a:r>
              <a:rPr sz="1300" b="0" i="0">
                <a:solidFill>
                  <a:srgbClr val="1A2744"/>
                </a:solidFill>
                <a:latin typeface="Calibri"/>
              </a:rPr>
              <a:t> (bottlenecks)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36576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PUTTING IT ALL TOGETHER: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868680"/>
            <a:ext cx="5394960" cy="1188720"/>
          </a:xfrm>
          <a:prstGeom prst="roundRect">
            <a:avLst/>
          </a:prstGeom>
          <a:solidFill>
            <a:srgbClr val="E0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9601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700" b="1" i="0">
                <a:solidFill>
                  <a:srgbClr val="1A2744"/>
                </a:solidFill>
                <a:latin typeface="Calibri"/>
              </a:rPr>
              <a:t>ATC = AFC + AVC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065F46"/>
                </a:solidFill>
                <a:latin typeface="Calibri"/>
              </a:rPr>
              <a:t>Total average cost = fixed cost per unit + variable cost per unit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194560"/>
            <a:ext cx="5394960" cy="118872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286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600" b="1" i="0">
                <a:solidFill>
                  <a:srgbClr val="1A2744"/>
                </a:solidFill>
                <a:latin typeface="Calibri"/>
              </a:rPr>
              <a:t>AFC always falls as Q rises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78350F"/>
                </a:solidFill>
                <a:latin typeface="Calibri"/>
              </a:rPr>
              <a:t>Because the same TFC is spread over more and more units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520440"/>
            <a:ext cx="539496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6118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400" b="1" i="0">
                <a:solidFill>
                  <a:srgbClr val="1A2744"/>
                </a:solidFill>
                <a:latin typeface="Calibri"/>
              </a:rPr>
              <a:t>⚠ Exam tip: averages at Q 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06908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You cannot calculate ATC, AFC, or AVC when Q = 0 — dividing by zero is impossible. At zero output, state: </a:t>
            </a:r>
            <a:r>
              <a:rPr sz="1100" b="1" i="0">
                <a:solidFill>
                  <a:srgbClr val="1A2744"/>
                </a:solidFill>
                <a:latin typeface="Calibri"/>
              </a:rPr>
              <a:t>TC = TFC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 (only fixed costs).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13 / 18  •  Average Variable Cost (AVC)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Georgia"/>
              </a:rPr>
              <a:t>Worked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Two exam-style problems with step-by-step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74552" cy="219456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🧮  WORKED EXAMPLE 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A firm produces </a:t>
            </a:r>
            <a:r>
              <a:rPr sz="1200" b="1" i="0">
                <a:solidFill>
                  <a:srgbClr val="78350F"/>
                </a:solidFill>
                <a:latin typeface="Calibri"/>
              </a:rPr>
              <a:t>four units of output</a:t>
            </a:r>
            <a:r>
              <a:rPr sz="1200" b="0" i="0">
                <a:solidFill>
                  <a:srgbClr val="78350F"/>
                </a:solidFill>
                <a:latin typeface="Calibri"/>
              </a:rPr>
              <a:t> at an average total cost (ATC) of </a:t>
            </a:r>
            <a:r>
              <a:rPr sz="1200" b="1" i="0">
                <a:solidFill>
                  <a:srgbClr val="78350F"/>
                </a:solidFill>
                <a:latin typeface="Calibri"/>
              </a:rPr>
              <a:t>$18</a:t>
            </a:r>
            <a:r>
              <a:rPr sz="1200" b="0" i="0">
                <a:solidFill>
                  <a:srgbClr val="78350F"/>
                </a:solidFill>
                <a:latin typeface="Calibri"/>
              </a:rPr>
              <a:t>. The firm subsequently makes a </a:t>
            </a:r>
            <a:r>
              <a:rPr sz="1200" b="1" i="0">
                <a:solidFill>
                  <a:srgbClr val="78350F"/>
                </a:solidFill>
                <a:latin typeface="Calibri"/>
              </a:rPr>
              <a:t>fifth unit</a:t>
            </a:r>
            <a:r>
              <a:rPr sz="1200" b="0" i="0">
                <a:solidFill>
                  <a:srgbClr val="78350F"/>
                </a:solidFill>
                <a:latin typeface="Calibri"/>
              </a:rPr>
              <a:t> which costs the firm </a:t>
            </a:r>
            <a:r>
              <a:rPr sz="1200" b="1" i="0">
                <a:solidFill>
                  <a:srgbClr val="78350F"/>
                </a:solidFill>
                <a:latin typeface="Calibri"/>
              </a:rPr>
              <a:t>$20</a:t>
            </a:r>
            <a:r>
              <a:rPr sz="1200" b="0" i="0">
                <a:solidFill>
                  <a:srgbClr val="78350F"/>
                </a:solidFill>
                <a:latin typeface="Calibri"/>
              </a:rPr>
              <a:t>. What is the value of the ATC of the five units?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108813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0607040" cy="8229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Step 1: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TC of first 4 units = ATC × Q = $18 × 4 = $72   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Step 2: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Add 5th unit → $72 + $20 = $92
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Step 3: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New ATC = $92 ÷ 5 =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$18.40</a:t>
            </a:r>
            <a:r>
              <a:rPr sz="1100" b="1" i="0">
                <a:solidFill>
                  <a:srgbClr val="1A2744"/>
                </a:solidFill>
                <a:latin typeface="Calibri"/>
              </a:rPr>
              <a:t>   ✅ Answer: ATC = $18.40 per unit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11880"/>
            <a:ext cx="11274552" cy="23774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4A8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 i="0">
                <a:solidFill>
                  <a:srgbClr val="B45309"/>
                </a:solidFill>
                <a:latin typeface="Calibri"/>
              </a:rPr>
              <a:t>🧮  WORKED EXAMPLE (2)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0" i="0">
                <a:solidFill>
                  <a:srgbClr val="78350F"/>
                </a:solidFill>
                <a:latin typeface="Calibri"/>
              </a:rPr>
              <a:t>Use the data below to calculate the fixed costs of production for the firm.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43400"/>
            <a:ext cx="109728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343400"/>
            <a:ext cx="109728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343400"/>
            <a:ext cx="1097280" cy="274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Output: 10  |  TVC: $1,500  |  TC: $3,845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17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1A2744"/>
                </a:solidFill>
                <a:latin typeface="Calibri"/>
              </a:rPr>
              <a:t>Output: 15  |  TVC: $2,250  |  TC: $4,595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29200"/>
            <a:ext cx="10607040" cy="8686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Key formula: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TFC = TC − TVC   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At Q=10: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$3,845 − $1,500 = $2,345    </a:t>
            </a:r>
            <a:r>
              <a:rPr sz="1100" b="1" i="0">
                <a:solidFill>
                  <a:srgbClr val="0D9488"/>
                </a:solidFill>
                <a:latin typeface="Calibri"/>
              </a:rPr>
              <a:t>At Q=15: </a:t>
            </a:r>
            <a:r>
              <a:rPr sz="1100" b="0" i="0">
                <a:solidFill>
                  <a:srgbClr val="1A2744"/>
                </a:solidFill>
                <a:latin typeface="Calibri"/>
              </a:rPr>
              <a:t>$4,595 − $2,250 = $2,345 ✓
</a:t>
            </a:r>
            <a:r>
              <a:rPr sz="1100" b="1" i="0">
                <a:solidFill>
                  <a:srgbClr val="1A2744"/>
                </a:solidFill>
                <a:latin typeface="Calibri"/>
              </a:rPr>
              <a:t>✅ Answer: Fixed costs = $2,345</a:t>
            </a:r>
            <a:r>
              <a:rPr sz="1100" b="0" i="1">
                <a:solidFill>
                  <a:srgbClr val="1A2744"/>
                </a:solidFill>
                <a:latin typeface="Calibri"/>
              </a:rPr>
              <a:t>  (TFC is the same at both output levels — confirms the answer)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14 / 18  •  Worked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0312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2600" b="1" i="0">
                <a:solidFill>
                  <a:srgbClr val="1A2744"/>
                </a:solidFill>
                <a:latin typeface="Georgia"/>
              </a:rPr>
              <a:t>Cost Reference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11640312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All six cost concepts — formulas, diagrams, and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737360" cy="320040"/>
          </a:xfrm>
          <a:prstGeom prst="rect">
            <a:avLst/>
          </a:prstGeom>
          <a:solidFill>
            <a:srgbClr val="86EFAC"/>
          </a:solidFill>
          <a:ln w="635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73736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064E3B"/>
                </a:solidFill>
                <a:latin typeface="Calibri"/>
              </a:rPr>
              <a:t>Category of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960120"/>
            <a:ext cx="2011680" cy="320040"/>
          </a:xfrm>
          <a:prstGeom prst="rect">
            <a:avLst/>
          </a:prstGeom>
          <a:solidFill>
            <a:srgbClr val="86EFAC"/>
          </a:solidFill>
          <a:ln w="635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9601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064E3B"/>
                </a:solidFill>
                <a:latin typeface="Calibri"/>
              </a:rPr>
              <a:t>Formula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960120"/>
            <a:ext cx="2743200" cy="320040"/>
          </a:xfrm>
          <a:prstGeom prst="rect">
            <a:avLst/>
          </a:prstGeom>
          <a:solidFill>
            <a:srgbClr val="86EFAC"/>
          </a:solidFill>
          <a:ln w="635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960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064E3B"/>
                </a:solidFill>
                <a:latin typeface="Calibri"/>
              </a:rPr>
              <a:t>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960120"/>
            <a:ext cx="5120640" cy="320040"/>
          </a:xfrm>
          <a:prstGeom prst="rect">
            <a:avLst/>
          </a:prstGeom>
          <a:solidFill>
            <a:srgbClr val="86EFAC"/>
          </a:solidFill>
          <a:ln w="6350">
            <a:solidFill>
              <a:srgbClr val="064E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960120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1" i="0">
                <a:solidFill>
                  <a:srgbClr val="064E3B"/>
                </a:solidFill>
                <a:latin typeface="Calibri"/>
              </a:rPr>
              <a:t>Changes in 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280160"/>
            <a:ext cx="1737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28016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Total cost (TC)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128016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128016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TC = TFC + TVC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128016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0" y="12801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TC rises with output, starting at TFC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128016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128016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Total costs increase with output level. TC line starts at TFC because fixed costs must be paid even without production.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05740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05740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Average total cost (ATC)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205740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205740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ATC = TC ÷ Q
(or AFC + AVC)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0" y="205740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205740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U-shape — falls then rises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05740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205740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Cost per unit. ATC falls with economies of scale, then rises after diseconomies set in.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834640"/>
            <a:ext cx="1737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283464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Fixed costs (TFC)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11680" y="283464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11680" y="283464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TFC = TC − TVC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360" y="283464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23360" y="283464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Flat horizontal 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283464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283464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Output has no impact on fixed costs — TFC remains constant at all levels of production (e.g. $100,000).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1188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361188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Average fixed cost (AFC)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11680" y="361188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11680" y="361188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AFC = TFC ÷ Q
(or ATC − AVC)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61188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23360" y="361188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Continuously decreasing curve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361188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0" y="361188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AFC continually declines as output rises — same fixed cost is divided by an increasingly higher quantity.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389120"/>
            <a:ext cx="1737360" cy="77724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438912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Variable costs (TVC)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438912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11680" y="438912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TVC = AVC × Q
(or TC − TFC)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023360" y="438912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60" y="438912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Upward-sloping curve from origin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66560" y="438912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66560" y="43891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TVC increases in proportion to output. Starts at $0 when Q = 0 (no production → no variable costs).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166360"/>
            <a:ext cx="1737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5166360"/>
            <a:ext cx="173736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1A2744"/>
                </a:solidFill>
                <a:latin typeface="Calibri"/>
              </a:rPr>
              <a:t>Average variable cost (AVC)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5166360"/>
            <a:ext cx="20116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11680" y="5166360"/>
            <a:ext cx="201168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100" b="1" i="0">
                <a:solidFill>
                  <a:srgbClr val="0D9488"/>
                </a:solidFill>
                <a:latin typeface="Georgia"/>
              </a:rPr>
              <a:t>AVC = TVC ÷ Q
(or ATC − AFC)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5166360"/>
            <a:ext cx="27432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023360" y="5166360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1">
                <a:solidFill>
                  <a:srgbClr val="1A2744"/>
                </a:solidFill>
                <a:latin typeface="Calibri"/>
              </a:rPr>
              <a:t>U-shape — falls then rises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766560" y="5166360"/>
            <a:ext cx="512064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766560" y="516636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0" i="0">
                <a:solidFill>
                  <a:srgbClr val="1A2744"/>
                </a:solidFill>
                <a:latin typeface="Calibri"/>
              </a:rPr>
              <a:t>Downward-sloping with economies of scale, starts to rise if output expands beyond optimal level.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15 / 18  •  Cost Reference Table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000" b="1" i="0">
                <a:solidFill>
                  <a:srgbClr val="1A2744"/>
                </a:solidFill>
                <a:latin typeface="Georgia"/>
              </a:rPr>
              <a:t>Common Mistake — Economies of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The #1 mix-up students make in exam questions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280160"/>
            <a:ext cx="9445752" cy="2377440"/>
          </a:xfrm>
          <a:prstGeom prst="roundRect">
            <a:avLst/>
          </a:prstGeom>
          <a:solidFill>
            <a:srgbClr val="FEE2E2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 i="0">
                <a:solidFill>
                  <a:srgbClr val="991B1B"/>
                </a:solidFill>
                <a:latin typeface="Calibri"/>
              </a:rPr>
              <a:t>⚠  THE WRONG DEFINITION STUDENTS OFTEN GIVE: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783080"/>
            <a:ext cx="8778240" cy="6400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1783080"/>
            <a:ext cx="859536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300" b="0" i="1">
                <a:solidFill>
                  <a:srgbClr val="7F1D1D"/>
                </a:solidFill>
                <a:latin typeface="Calibri"/>
              </a:rPr>
              <a:t>"Economies of scale are costs of production that fall as a firm increases its production."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7F1D1D"/>
                </a:solidFill>
                <a:latin typeface="Calibri"/>
              </a:rPr>
              <a:t>This is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incorrect</a:t>
            </a:r>
            <a:r>
              <a:rPr sz="1100" b="0" i="0">
                <a:solidFill>
                  <a:srgbClr val="7F1D1D"/>
                </a:solidFill>
                <a:latin typeface="Calibri"/>
              </a:rPr>
              <a:t>. As a firm increases scale, it actually costs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MORE</a:t>
            </a:r>
            <a:r>
              <a:rPr sz="1100" b="0" i="0">
                <a:solidFill>
                  <a:srgbClr val="7F1D1D"/>
                </a:solidFill>
                <a:latin typeface="Calibri"/>
              </a:rPr>
              <a:t> to produce additional output — more raw materials, more parts, more labour, more fuel.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10896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7F1D1D"/>
                </a:solidFill>
                <a:latin typeface="Calibri"/>
              </a:rPr>
              <a:t>However, it </a:t>
            </a:r>
            <a:r>
              <a:rPr sz="1100" b="0" i="1">
                <a:solidFill>
                  <a:srgbClr val="7F1D1D"/>
                </a:solidFill>
                <a:latin typeface="Calibri"/>
              </a:rPr>
              <a:t>is</a:t>
            </a:r>
            <a:r>
              <a:rPr sz="1100" b="0" i="0">
                <a:solidFill>
                  <a:srgbClr val="7F1D1D"/>
                </a:solidFill>
                <a:latin typeface="Calibri"/>
              </a:rPr>
              <a:t> possible that the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average cost</a:t>
            </a:r>
            <a:r>
              <a:rPr sz="1100" b="0" i="0">
                <a:solidFill>
                  <a:srgbClr val="7F1D1D"/>
                </a:solidFill>
                <a:latin typeface="Calibri"/>
              </a:rPr>
              <a:t> of production falls — </a:t>
            </a:r>
            <a:r>
              <a:rPr sz="1100" b="1" i="0">
                <a:solidFill>
                  <a:srgbClr val="991B1B"/>
                </a:solidFill>
                <a:latin typeface="Calibri"/>
              </a:rPr>
              <a:t>NOT</a:t>
            </a:r>
            <a:r>
              <a:rPr sz="1100" b="0" i="0">
                <a:solidFill>
                  <a:srgbClr val="7F1D1D"/>
                </a:solidFill>
                <a:latin typeface="Calibri"/>
              </a:rPr>
              <a:t> the overall production cost (total cost).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794760"/>
            <a:ext cx="9445752" cy="1463040"/>
          </a:xfrm>
          <a:prstGeom prst="roundRect">
            <a:avLst/>
          </a:prstGeom>
          <a:solidFill>
            <a:srgbClr val="E0F5F3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8862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 i="0">
                <a:solidFill>
                  <a:srgbClr val="065F46"/>
                </a:solidFill>
                <a:latin typeface="Calibri"/>
              </a:rPr>
              <a:t>✓  THE CORRECT DEFINITION: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425196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200" b="1" i="0">
                <a:solidFill>
                  <a:srgbClr val="064E3B"/>
                </a:solidFill>
                <a:latin typeface="Calibri"/>
              </a:rPr>
              <a:t>Economies of scale</a:t>
            </a:r>
            <a:r>
              <a:rPr sz="1200" b="0" i="0">
                <a:solidFill>
                  <a:srgbClr val="064E3B"/>
                </a:solidFill>
                <a:latin typeface="Calibri"/>
              </a:rPr>
              <a:t> occur when the </a:t>
            </a:r>
            <a:r>
              <a:rPr sz="1200" b="1" i="0">
                <a:solidFill>
                  <a:srgbClr val="064E3B"/>
                </a:solidFill>
                <a:latin typeface="Calibri"/>
              </a:rPr>
              <a:t>average cost per unit (ATC)</a:t>
            </a:r>
            <a:r>
              <a:rPr sz="1200" b="0" i="0">
                <a:solidFill>
                  <a:srgbClr val="064E3B"/>
                </a:solidFill>
                <a:latin typeface="Calibri"/>
              </a:rPr>
              <a:t> falls as output increases. Total costs still </a:t>
            </a:r>
            <a:r>
              <a:rPr sz="1200" b="1" i="0">
                <a:solidFill>
                  <a:srgbClr val="064E3B"/>
                </a:solidFill>
                <a:latin typeface="Calibri"/>
              </a:rPr>
              <a:t>rise</a:t>
            </a:r>
            <a:r>
              <a:rPr sz="1200" b="0" i="0">
                <a:solidFill>
                  <a:srgbClr val="064E3B"/>
                </a:solidFill>
                <a:latin typeface="Calibri"/>
              </a:rPr>
              <a:t> with output — but each unit becomes </a:t>
            </a:r>
            <a:r>
              <a:rPr sz="1200" b="1" i="0">
                <a:solidFill>
                  <a:srgbClr val="064E3B"/>
                </a:solidFill>
                <a:latin typeface="Calibri"/>
              </a:rPr>
              <a:t>cheaper to produce</a:t>
            </a:r>
            <a:r>
              <a:rPr sz="1200" b="0" i="0">
                <a:solidFill>
                  <a:srgbClr val="064E3B"/>
                </a:solidFill>
                <a:latin typeface="Calibri"/>
              </a:rPr>
              <a:t> because fixed costs are spread over more units and the firm gains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394960"/>
            <a:ext cx="9445752" cy="64008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539496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300" b="1" i="0">
                <a:solidFill>
                  <a:srgbClr val="D4A843"/>
                </a:solidFill>
                <a:latin typeface="Calibri"/>
              </a:rPr>
              <a:t>Exam tip: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Always say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"average cost per unit falls"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— never "costs fall" on its 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16 / 18  •  Common Mistake: Economies of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Georgia"/>
              </a:rPr>
              <a:t>Research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74552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  <a:latin typeface="Calibri"/>
              </a:rPr>
              <a:t>Choose ONE Vietnamese business below and identify its costs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463040"/>
            <a:ext cx="36576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FOOD &amp; BEVERAGE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000" b="1" i="0">
                <a:solidFill>
                  <a:srgbClr val="1A2744"/>
                </a:solidFill>
                <a:latin typeface="Georgia"/>
              </a:rPr>
              <a:t>Highlands Coffee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560320"/>
            <a:ext cx="32918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651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Think about: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71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Rent for each store, coffee beans per cup, barista wages (fixed salary vs per shift), cups &amp; packaging per drink, monthly WiFi subscription, espresso machines &amp; equipment.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78808" y="1463040"/>
            <a:ext cx="36576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TECHNOLOGY / GIG ECONOMY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1920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000" b="1" i="0">
                <a:solidFill>
                  <a:srgbClr val="1A2744"/>
                </a:solidFill>
                <a:latin typeface="Georgia"/>
              </a:rPr>
              <a:t>Grab Vietnam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61688" y="2560320"/>
            <a:ext cx="32918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361688" y="2651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Think about: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971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App development &amp; server costs (fixed), driver payments per ride, marketing campaigns, insurance, customer support staff salaries, fuel subsidies per trip.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463040"/>
            <a:ext cx="365760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6002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900" b="1" i="0">
                <a:solidFill>
                  <a:srgbClr val="0D9488"/>
                </a:solidFill>
                <a:latin typeface="Calibri"/>
              </a:rPr>
              <a:t>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202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2000" b="1" i="0">
                <a:solidFill>
                  <a:srgbClr val="1A2744"/>
                </a:solidFill>
                <a:latin typeface="Georgia"/>
              </a:rPr>
              <a:t>VinFast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74736" y="2560320"/>
            <a:ext cx="3291840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174736" y="265176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Think about: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971800"/>
            <a:ext cx="3291840" cy="21031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100" b="0" i="0">
                <a:solidFill>
                  <a:srgbClr val="1A2744"/>
                </a:solidFill>
                <a:latin typeface="Calibri"/>
              </a:rPr>
              <a:t>Factory building &amp; land (fixed), robots &amp; machinery, steel and batteries per car, assembly worker wages, electricity for production, R&amp;D costs.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1274552" cy="77724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349240"/>
            <a:ext cx="10972800" cy="7772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Write down at least </a:t>
            </a:r>
            <a:r>
              <a:rPr sz="1300" b="1" i="0">
                <a:solidFill>
                  <a:srgbClr val="D4A843"/>
                </a:solidFill>
                <a:latin typeface="Calibri"/>
              </a:rPr>
              <a:t>3 fixed costs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D4A843"/>
                </a:solidFill>
                <a:latin typeface="Calibri"/>
              </a:rPr>
              <a:t>3 variable costs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for your chosen business. Be ready to share — can anyone find an edge case?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17 / 18  •  Research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3200" b="1" i="0">
                <a:solidFill>
                  <a:srgbClr val="1A2744"/>
                </a:solidFill>
                <a:latin typeface="Georgia"/>
              </a:rPr>
              <a:t>Summary — Firms'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KEY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FC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Costs that do NOT change with output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VC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Costs that change directly with output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TC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Total of all costs (FC + VC)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ATC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Average cost per unit (TC ÷ Q)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AFC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Fixed cost per unit (TFC ÷ Q)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0D9488"/>
                </a:solidFill>
                <a:latin typeface="Calibri"/>
              </a:rPr>
              <a:t>AVC</a:t>
            </a:r>
            <a:r>
              <a:rPr sz="1100" b="0">
                <a:solidFill>
                  <a:srgbClr val="1A2744"/>
                </a:solidFill>
                <a:latin typeface="Calibri"/>
              </a:rPr>
              <a:t> — Variable cost per unit (TVC ÷ Q)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KEY FORMULAS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TC = TFC + TVC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ATC = TC ÷ Q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ATC = AFC + AVC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AFC = TFC ÷ Q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AVC = TVC ÷ Q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1A2744"/>
                </a:solidFill>
                <a:latin typeface="Calibri"/>
              </a:rPr>
              <a:t>At Q = 0: TC = TFC, VC = $0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47472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118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WHAT HAPPENS AS OUTPUT RISES?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319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TFC stays </a:t>
            </a:r>
            <a:r>
              <a:rPr sz="1100" b="1">
                <a:solidFill>
                  <a:srgbClr val="1A2744"/>
                </a:solidFill>
                <a:latin typeface="Calibri"/>
              </a:rPr>
              <a:t>constant</a:t>
            </a:r>
            <a:r>
              <a:rPr sz="1100" b="0">
                <a:solidFill>
                  <a:srgbClr val="1A2744"/>
                </a:solidFill>
                <a:latin typeface="Calibri"/>
              </a:rPr>
              <a:t> (horizontal line)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TVC </a:t>
            </a:r>
            <a:r>
              <a:rPr sz="1100" b="1">
                <a:solidFill>
                  <a:srgbClr val="1A2744"/>
                </a:solidFill>
                <a:latin typeface="Calibri"/>
              </a:rPr>
              <a:t>rises</a:t>
            </a:r>
            <a:r>
              <a:rPr sz="1100" b="0">
                <a:solidFill>
                  <a:srgbClr val="1A2744"/>
                </a:solidFill>
                <a:latin typeface="Calibri"/>
              </a:rPr>
              <a:t> from zero (smooth curve)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TC </a:t>
            </a:r>
            <a:r>
              <a:rPr sz="1100" b="1">
                <a:solidFill>
                  <a:srgbClr val="1A2744"/>
                </a:solidFill>
                <a:latin typeface="Calibri"/>
              </a:rPr>
              <a:t>rises</a:t>
            </a:r>
            <a:r>
              <a:rPr sz="1100" b="0">
                <a:solidFill>
                  <a:srgbClr val="1A2744"/>
                </a:solidFill>
                <a:latin typeface="Calibri"/>
              </a:rPr>
              <a:t> (parallel to TVC, shifted up by TFC)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AFC </a:t>
            </a:r>
            <a:r>
              <a:rPr sz="1100" b="1">
                <a:solidFill>
                  <a:srgbClr val="1A2744"/>
                </a:solidFill>
                <a:latin typeface="Calibri"/>
              </a:rPr>
              <a:t>always falls</a:t>
            </a:r>
            <a:r>
              <a:rPr sz="1100" b="0">
                <a:solidFill>
                  <a:srgbClr val="1A2744"/>
                </a:solidFill>
                <a:latin typeface="Calibri"/>
              </a:rPr>
              <a:t> (spreading fixed costs)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ATC </a:t>
            </a:r>
            <a:r>
              <a:rPr sz="1100" b="1">
                <a:solidFill>
                  <a:srgbClr val="1A2744"/>
                </a:solidFill>
                <a:latin typeface="Calibri"/>
              </a:rPr>
              <a:t>falls then may rise</a:t>
            </a:r>
            <a:r>
              <a:rPr sz="1100" b="0">
                <a:solidFill>
                  <a:srgbClr val="1A2744"/>
                </a:solidFill>
                <a:latin typeface="Calibri"/>
              </a:rPr>
              <a:t> (U-shape)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474720"/>
            <a:ext cx="55778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61188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alibri"/>
              </a:rPr>
              <a:t>EXAM 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931920"/>
            <a:ext cx="5212080" cy="1737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Fixed costs can change over time — just NOT with output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VC = $0 at zero output — always state this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TC starts at TFC intercept, not at the origin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AFC falls because same FC is shared over more units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A2744"/>
                </a:solidFill>
                <a:latin typeface="Calibri"/>
              </a:rPr>
              <a:t>Link ATC to economies of scale (Topic 3.4)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69280"/>
            <a:ext cx="11274552" cy="731520"/>
          </a:xfrm>
          <a:prstGeom prst="round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68756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000" b="1" i="0">
                <a:solidFill>
                  <a:srgbClr val="D4A843"/>
                </a:solidFill>
                <a:latin typeface="Calibri"/>
              </a:rPr>
              <a:t>THE BIG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Firms want to find the output level where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Average Total Cost (ATC) is lowest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— this is where they are most efficient and profitable.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Firms' Costs — IGCSE 3.6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52647" y="6400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18 / 18  • 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4175" y="64008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lIns="76200" rIns="76200" tIns="50800" bIns="50800" anchor="ctr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VinSchool Grand Park  •  Grade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